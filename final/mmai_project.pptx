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61" r:id="rId4"/>
    <p:sldId id="262" r:id="rId5"/>
    <p:sldId id="263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854" autoAdjust="0"/>
  </p:normalViewPr>
  <p:slideViewPr>
    <p:cSldViewPr snapToGrid="0">
      <p:cViewPr>
        <p:scale>
          <a:sx n="100" d="100"/>
          <a:sy n="100" d="100"/>
        </p:scale>
        <p:origin x="936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88419-EE09-4C57-8EDD-FB17D680D65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33F49-7475-4F37-B725-A058515D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PMSE = 1 implies model is equivalent to persistent (last-frame) prediction.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33F49-7475-4F37-B725-A058515DA6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0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4E44-8938-8FC6-7670-69512101C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863C0-FEC0-88F2-4600-8A6558D8A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D6CA-6F4E-DE57-94CB-2E9E3B58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03C49-C9BD-7057-EE11-EF8DC4DF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D26E1-1A9A-7029-12D8-879BE31C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6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3B5E-47BE-D2C6-0D65-0BA04211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EE071-854E-5F81-BFEE-617DC259E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CE368-5569-88CF-561A-FB9637D9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9D0DF-F39D-9C0D-7B6E-4B6D207B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DD972-3427-0D5C-1BBE-1DDFD867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1E38-C241-9689-0A44-2FFAA9CB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97FAC-C581-B498-DA8F-5FA527AB9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95E4-C4EC-3276-8625-5F25771D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382F9-3BDD-001F-F91A-4229D1E3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02E25-5DCF-AB86-C85A-8282A22A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6B80-F856-EC99-9320-2236875E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416E-1910-4E74-E825-DAC4914F7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6D32A-B287-FBEF-5BB2-A17F61959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E9E2A-A3D0-1148-B680-0D054E38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5CF82-B71E-9E0E-D701-9E700E85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935B4-EE4F-D1B1-2812-B64728F0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3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69FD-E028-BB26-DE32-A54C42233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EB749-EEB6-648B-1877-1E6F3310E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73AF4-AF93-096D-3577-645337FEE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87B70-042D-9934-1E6D-4DF0A9929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278FF-4C64-1538-3B6E-E2317E2C7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0EF6A-71E1-CC67-4230-FD812609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ACFFF-1762-F268-738E-B37ECA7C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25B8C-F63E-E89E-23EA-CC02BDB6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7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DB75-CA58-5926-B273-67CA5678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9BA21-DB52-448E-C3C8-21EDDD7B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BFCC5-9E0C-2A65-91BB-6B052DD8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776A5-D393-5F6F-2622-B51C276D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5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8521A-D0A2-60EA-F45A-09B67B57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9D8CA-29E7-B74A-D428-B030ED9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0911E-1BC4-6A13-881D-30A3A503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1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2EC2-CB67-0D30-7EF9-23DED139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9A0F-2F4E-6DFD-8BD0-5E4D97A0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038BC-1481-9820-AF07-F9D48AFE9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633B0-72CD-2A2D-B329-E677F70BB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8032B-FE2A-B87A-09E9-F1E17E04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150EF-DEDB-2AF6-D3FD-F31ED997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0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71E8-7185-1F91-E2C9-B2E70B26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0756B-B70B-6548-6996-011B588A8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C993B-93E3-1052-8665-B925C54AE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7E12A-01B8-974D-ECE3-2A8F3FE21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FD138-DBD2-65A4-4085-BE9AD3E7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BFA5E-7BBB-E5CC-C09D-B4D9BE96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9633-D22C-C9AD-8059-6BA78141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1F043-CA6F-5ECB-81D4-421C47414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473D2-5E26-82AC-F093-CB3652A1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7C98E-0821-A718-56D3-2E60C052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CB9C3-5923-8311-CB35-523B7CB6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2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B551A-F9F0-8171-762D-4792C8F1D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A4890-DEF9-EE11-5981-511E6BD69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ABCC7-C5AB-E96C-5025-AE442380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943D7-1643-22D7-15B5-DFEB36CB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D5327-2E9F-7DFC-28B5-57744C61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18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302E-3B76-BE9C-2879-47F9926E1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BA1E-7011-9164-6DE3-F8B854F7C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71C1D-FEE1-A76E-44A3-C7E1FC63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46671-88CA-4DC9-B3B7-A729E77B10D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378DD-D1F7-C3AE-AD38-C6E7938A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D0001-FDAA-7CDC-437B-E641D422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88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6BA6-EA2C-EFCA-647D-146BD35E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omfortaa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6010-A4B2-A36E-7817-14052F115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Next LT Pro" panose="020B0504020202020204" pitchFamily="34" charset="0"/>
              </a:defRPr>
            </a:lvl1pPr>
            <a:lvl2pPr>
              <a:defRPr>
                <a:latin typeface="Avenir Next LT Pro" panose="020B0504020202020204" pitchFamily="34" charset="0"/>
              </a:defRPr>
            </a:lvl2pPr>
            <a:lvl3pPr>
              <a:defRPr>
                <a:latin typeface="Avenir Next LT Pro" panose="020B0504020202020204" pitchFamily="34" charset="0"/>
              </a:defRPr>
            </a:lvl3pPr>
            <a:lvl4pPr>
              <a:defRPr>
                <a:latin typeface="Avenir Next LT Pro" panose="020B0504020202020204" pitchFamily="34" charset="0"/>
              </a:defRPr>
            </a:lvl4pPr>
            <a:lvl5pPr>
              <a:defRPr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2628-A2C7-D9CD-66A9-2C14C52E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0554-2285-407D-9DF8-BAC5A56AB627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56EEC-A371-67FF-B261-4145BB14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C872E-72AC-AA8D-4D2E-A949F715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26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D750-D49F-652F-AFF0-55E04DFF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52A89-B20A-2E0F-2337-B8EE00525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65230-2119-4BFD-1FD4-AA1746FA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80A2-178F-4D60-BE4A-615DB480859E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751BE-0DF7-4A1C-A2A3-6AE6DCCD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1AA43-14D8-FCC9-3746-8B0C3D0B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8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E182-4CBF-6B97-E6F4-8BB4AAD7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1299-EBCD-D5F4-BB1F-26DF16E3F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9F70E-5486-6196-7C26-3A3698946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15F3-72A4-DE0B-1B3B-481D3A37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0370-4822-4ECE-98CA-5C8B1AB07A5E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B7246-F4AF-6856-6106-329249E2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B05A8-887F-CA45-1283-EA40BD01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22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3912-D10A-9034-EB77-ED559206D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CE69A-B72B-03CD-89EB-B0BBB1C2A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4A21C-5920-1C76-EF3F-EBC791140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56A8C-C27C-4DFB-B4C1-7BC713304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8F5CA-BA79-2C73-A8A9-24685CEA8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38D68-963E-1D1E-1D13-69B03F39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F5B6-80F5-4FCB-83F1-4188B6CD9D01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1BDB9-088A-F192-3A4F-6A84E09E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A05FD-3F46-1E33-0991-9B461CC4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13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6E0D-25D9-F829-B2AE-42C3749C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8571C-1219-B78B-5B19-7D62DDB01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D62A-36A6-4A33-88B0-E0CE6347C145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903F8-FEF4-3F2F-F325-B1098B46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C8F02-A607-4B64-6D76-FA144A4F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09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F01F1-8700-4827-908D-C0261DED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D8D81-EB20-4336-BB93-5A1C341F67E9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6BA8ED-6682-4F9F-2F1F-A2A61B84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13933-01B8-C167-711C-B110A5B6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109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16B5-5583-DE97-46DF-B61DD99B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865FF-1B54-3A46-8D54-A8D185C2A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E428A-FC62-140B-4598-396134301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C33A9-9D85-66E9-B782-D02C50C5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870A-B8D0-415A-B1EB-62534C8EE31B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F3598-98CB-0A0A-8723-A7CE8717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26F9C-F709-639A-0DB7-57666864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390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F8C8-FC77-9347-097A-33E146F4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54CF6-1C46-29AC-0A67-FB0CB1847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4B3F1-7529-E158-9222-84245C461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1EABA-5E98-DE41-7263-FFBFD9A5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47967-3CE0-47BA-98B8-78E2DF05E9DB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EB00B-AED1-33D5-2DDE-2F1F649F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CAF38-E834-A331-454F-AAECC1EA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19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48CD-8559-CD17-3C8F-04F7D159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5B9BA-7574-0DBB-4D1F-0E80AA8C3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899C7-7CCD-4AF6-074D-5935BE05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E8-D7C4-4D21-A01F-6BD3B2A594F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2787-7555-74AE-5B2F-0822D5A2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C25A3-3C08-4408-7995-FB9ABF82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30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EB1B8-BE27-7DC5-4CCB-B3618C115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C0C9F-1121-A1AB-AFB8-4078ADD3E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86FB7-7A31-F66B-EE61-2DBB9185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53134-FDD2-447F-BEB1-B9E70BF8DE24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CF4CA-67A9-BA3B-E929-06519814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316AA-975C-2B74-E477-47D4A83E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4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F48B6-1E56-246E-B7C0-8317F63A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804BF-DB57-F7CF-36C4-D5F697FAB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0FA0F-93CE-4EFC-0430-EC28DCC37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4CECE-B182-413B-A11F-D7F570B2F32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56CB-7820-E675-3C30-7B2E22325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658F8-DBA0-B157-7495-0BA568AEF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13F6B-49C4-4EDA-9273-2376E2F6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8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65B66-2852-E16E-29A4-0FC9A84E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CA6C5-E5D5-0B67-961A-6BBC5512E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86AB0-627A-C872-3DCB-35D0C362D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00DD5-E821-47FF-8927-D5A3747468DE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144A-C72B-AEAE-97C4-9FAF50985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784AC-0A01-0775-AA99-48BDA5985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B775B-CFD3-4061-9717-6DBEF917E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9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3424-9882-6243-470E-2AF1D68D2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2085" y="4289303"/>
            <a:ext cx="10139350" cy="164662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latin typeface="Comfortaa Medium" pitchFamily="2" charset="0"/>
              </a:rPr>
              <a:t>Group 3 : PDE-conditioned </a:t>
            </a:r>
            <a:br>
              <a:rPr lang="en-US" dirty="0">
                <a:latin typeface="Comfortaa Medium" pitchFamily="2" charset="0"/>
              </a:rPr>
            </a:br>
            <a:r>
              <a:rPr lang="en-US" dirty="0">
                <a:latin typeface="Comfortaa Medium" pitchFamily="2" charset="0"/>
              </a:rPr>
              <a:t>flow-matching surrogates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086AB-2620-9F8E-E4E8-45A8D3B8F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" t="11760" r="8018" b="11468"/>
          <a:stretch>
            <a:fillRect/>
          </a:stretch>
        </p:blipFill>
        <p:spPr>
          <a:xfrm>
            <a:off x="0" y="2571642"/>
            <a:ext cx="12192000" cy="15342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358E22-71FE-9D34-73C4-7B3889A8D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" t="12488" r="8018" b="11753"/>
          <a:stretch>
            <a:fillRect/>
          </a:stretch>
        </p:blipFill>
        <p:spPr>
          <a:xfrm>
            <a:off x="0" y="944444"/>
            <a:ext cx="12192000" cy="1514043"/>
          </a:xfrm>
          <a:prstGeom prst="rect">
            <a:avLst/>
          </a:prstGeom>
        </p:spPr>
      </p:pic>
      <p:pic>
        <p:nvPicPr>
          <p:cNvPr id="14" name="Picture 13" descr="A picture containing text, outdoor, sign&#10;&#10;Description automatically generated">
            <a:extLst>
              <a:ext uri="{FF2B5EF4-FFF2-40B4-BE49-F238E27FC236}">
                <a16:creationId xmlns:a16="http://schemas.microsoft.com/office/drawing/2014/main" id="{9B1E6F2C-09D6-4AD3-B5A3-CD13F65EF5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67" y="5972143"/>
            <a:ext cx="1810767" cy="3820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E8267C-B57E-2532-ABE0-7F9258A33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47" y="5650490"/>
            <a:ext cx="872358" cy="26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8B9A5E-7CC7-635D-3160-899B946A1BB8}"/>
              </a:ext>
            </a:extLst>
          </p:cNvPr>
          <p:cNvSpPr txBox="1"/>
          <p:nvPr/>
        </p:nvSpPr>
        <p:spPr>
          <a:xfrm>
            <a:off x="10725808" y="6098032"/>
            <a:ext cx="114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+mn-cs"/>
              </a:rPr>
              <a:t>Akhil Sadam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Avenir Next LT Pro Light" panose="020B0304020202020204" pitchFamily="34" charset="0"/>
              </a:rPr>
              <a:t>MMAI Project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883F95-26AA-14C5-F5CF-DC1706B60CA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627" y="6375252"/>
            <a:ext cx="2229103" cy="33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6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21AB-FAD1-C324-F0A5-E3478412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6B894A03-46D3-52E0-D9B0-5407736A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17" y="4061169"/>
            <a:ext cx="5829288" cy="25634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269F8-9C52-5C88-2586-4D5717E0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tasks require PDEs and video / fluid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6C9C-3297-C99C-C50D-931200281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3492" cy="4351338"/>
          </a:xfrm>
        </p:spPr>
        <p:txBody>
          <a:bodyPr>
            <a:normAutofit/>
          </a:bodyPr>
          <a:lstStyle/>
          <a:p>
            <a:r>
              <a:rPr lang="en-US" dirty="0"/>
              <a:t>Common motivation is interpretability and transference</a:t>
            </a:r>
          </a:p>
          <a:p>
            <a:r>
              <a:rPr lang="en-US" dirty="0"/>
              <a:t>Most basic task is pure alignment and fusion </a:t>
            </a:r>
            <a:r>
              <a:rPr lang="en-US" i="1" dirty="0"/>
              <a:t>across different PDEs</a:t>
            </a:r>
          </a:p>
          <a:p>
            <a:r>
              <a:rPr lang="en-US" dirty="0"/>
              <a:t>Prior work (1D, mostly in training PDE distribution): </a:t>
            </a:r>
          </a:p>
          <a:p>
            <a:pPr lvl="1"/>
            <a:r>
              <a:rPr lang="en-US" dirty="0"/>
              <a:t>PI-MFM (Zhu et al.,  Lu Group / DeepONet Lab)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136BC-24B5-D004-F250-B21DD57B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E86111-569C-578B-20A9-438DBDA90EB9}"/>
              </a:ext>
            </a:extLst>
          </p:cNvPr>
          <p:cNvGrpSpPr/>
          <p:nvPr/>
        </p:nvGrpSpPr>
        <p:grpSpPr>
          <a:xfrm>
            <a:off x="6282042" y="4201205"/>
            <a:ext cx="5720441" cy="2376601"/>
            <a:chOff x="145671" y="4158029"/>
            <a:chExt cx="5720441" cy="237660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E7A25F4-E4CC-AECC-FF28-86CC8B902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771" t="12488" r="8020" b="11753"/>
            <a:stretch>
              <a:fillRect/>
            </a:stretch>
          </p:blipFill>
          <p:spPr>
            <a:xfrm>
              <a:off x="294038" y="5433942"/>
              <a:ext cx="5230474" cy="1100688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5C43BFA-88A2-C877-2485-5EB50894B62D}"/>
                </a:ext>
              </a:extLst>
            </p:cNvPr>
            <p:cNvGrpSpPr/>
            <p:nvPr/>
          </p:nvGrpSpPr>
          <p:grpSpPr>
            <a:xfrm>
              <a:off x="1591665" y="4401670"/>
              <a:ext cx="4274447" cy="518832"/>
              <a:chOff x="5441053" y="3764814"/>
              <a:chExt cx="5985017" cy="71934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A2875C5-EB4B-E16B-D29B-0F11E7FB0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41053" y="3781893"/>
                <a:ext cx="5985017" cy="7022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0051589-86E7-0678-8B89-7D9CF2F582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2432" r="41549"/>
              <a:stretch>
                <a:fillRect/>
              </a:stretch>
            </p:blipFill>
            <p:spPr bwMode="auto">
              <a:xfrm>
                <a:off x="5441054" y="3764814"/>
                <a:ext cx="3498342" cy="7193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5F7AB8F2-011D-7088-B1E3-BB8296CD06F9}"/>
                </a:ext>
              </a:extLst>
            </p:cNvPr>
            <p:cNvCxnSpPr>
              <a:cxnSpLocks/>
              <a:stCxn id="15" idx="2"/>
              <a:endCxn id="13" idx="0"/>
            </p:cNvCxnSpPr>
            <p:nvPr/>
          </p:nvCxnSpPr>
          <p:spPr>
            <a:xfrm rot="16200000" flipH="1">
              <a:off x="2618372" y="5143039"/>
              <a:ext cx="513440" cy="6836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0946570-995E-DA54-5A96-B1175E5AE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2" r="86983"/>
            <a:stretch>
              <a:fillRect/>
            </a:stretch>
          </p:blipFill>
          <p:spPr>
            <a:xfrm>
              <a:off x="145671" y="4158029"/>
              <a:ext cx="1072698" cy="1186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81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EFE9-CCC1-7724-1534-CE2BABE08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E9F3-F9C1-68F6-C558-3D99C1A9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F648D-E24C-26A1-A400-6D6546483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523"/>
            <a:ext cx="7882054" cy="4717440"/>
          </a:xfrm>
        </p:spPr>
        <p:txBody>
          <a:bodyPr numCol="2"/>
          <a:lstStyle/>
          <a:p>
            <a:r>
              <a:rPr lang="en-US" dirty="0"/>
              <a:t>Vision / flow model</a:t>
            </a:r>
          </a:p>
          <a:p>
            <a:pPr lvl="1"/>
            <a:r>
              <a:rPr lang="en-US" dirty="0"/>
              <a:t>Flow-matching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Semantic Fusion:</a:t>
            </a:r>
            <a:br>
              <a:rPr lang="en-US" dirty="0"/>
            </a:br>
            <a:r>
              <a:rPr lang="en-US" dirty="0"/>
              <a:t>concatenated latent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LLM / PDE autoencoder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31B67-8296-559A-D996-143DF98E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557971-D103-45DF-BA0D-78F231605219}"/>
              </a:ext>
            </a:extLst>
          </p:cNvPr>
          <p:cNvSpPr txBox="1"/>
          <p:nvPr/>
        </p:nvSpPr>
        <p:spPr>
          <a:xfrm>
            <a:off x="928072" y="62782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https://arxiv.org/pdf/2511.13720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65FC22-5436-8AB4-DFB1-EC57B7E19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72" y="2308964"/>
            <a:ext cx="2315606" cy="15092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83C037-7856-AA64-1F83-C4A0AF229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503" y="1984596"/>
            <a:ext cx="7320442" cy="408915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B95AF5-18BA-571E-7C0E-8F0FE4CB76C8}"/>
              </a:ext>
            </a:extLst>
          </p:cNvPr>
          <p:cNvCxnSpPr>
            <a:cxnSpLocks/>
          </p:cNvCxnSpPr>
          <p:nvPr/>
        </p:nvCxnSpPr>
        <p:spPr>
          <a:xfrm flipV="1">
            <a:off x="9415579" y="1230923"/>
            <a:ext cx="0" cy="677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E6E359-D632-9888-D0AC-01345063EC54}"/>
              </a:ext>
            </a:extLst>
          </p:cNvPr>
          <p:cNvCxnSpPr>
            <a:cxnSpLocks/>
          </p:cNvCxnSpPr>
          <p:nvPr/>
        </p:nvCxnSpPr>
        <p:spPr>
          <a:xfrm flipH="1">
            <a:off x="4317023" y="1230923"/>
            <a:ext cx="50985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948DBF-DD4A-A811-E751-E9A36E3470BB}"/>
              </a:ext>
            </a:extLst>
          </p:cNvPr>
          <p:cNvCxnSpPr>
            <a:cxnSpLocks/>
          </p:cNvCxnSpPr>
          <p:nvPr/>
        </p:nvCxnSpPr>
        <p:spPr>
          <a:xfrm>
            <a:off x="4317023" y="1230923"/>
            <a:ext cx="0" cy="1832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11A2EF-C946-9546-A284-8EA5B2960E8E}"/>
              </a:ext>
            </a:extLst>
          </p:cNvPr>
          <p:cNvCxnSpPr>
            <a:cxnSpLocks/>
          </p:cNvCxnSpPr>
          <p:nvPr/>
        </p:nvCxnSpPr>
        <p:spPr>
          <a:xfrm flipH="1">
            <a:off x="3472962" y="3063603"/>
            <a:ext cx="8440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87AFFC1-062D-42C7-DCD4-422D4D1D58E7}"/>
              </a:ext>
            </a:extLst>
          </p:cNvPr>
          <p:cNvSpPr/>
          <p:nvPr/>
        </p:nvSpPr>
        <p:spPr>
          <a:xfrm>
            <a:off x="9489790" y="5021551"/>
            <a:ext cx="1711610" cy="1013489"/>
          </a:xfrm>
          <a:prstGeom prst="rect">
            <a:avLst/>
          </a:prstGeom>
          <a:solidFill>
            <a:srgbClr val="151D25"/>
          </a:solidFill>
          <a:ln>
            <a:solidFill>
              <a:srgbClr val="151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5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6971-CE53-FAC1-4EA3-2BCACA14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204905-D4D9-A1F3-0D52-7D6E53136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499"/>
          <a:stretch>
            <a:fillRect/>
          </a:stretch>
        </p:blipFill>
        <p:spPr>
          <a:xfrm>
            <a:off x="170985" y="4708985"/>
            <a:ext cx="5858106" cy="20124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85557A-8DF9-30E3-EF2D-0EC8364D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/ PDE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4263A-0A69-FD01-D904-E7F0DA6C2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802" y="5510813"/>
            <a:ext cx="5853197" cy="1118587"/>
          </a:xfrm>
        </p:spPr>
        <p:txBody>
          <a:bodyPr numCol="1">
            <a:normAutofit/>
          </a:bodyPr>
          <a:lstStyle/>
          <a:p>
            <a:r>
              <a:rPr lang="en-US" dirty="0"/>
              <a:t>1.3M trainable (LLM) – 1hr</a:t>
            </a:r>
          </a:p>
          <a:p>
            <a:r>
              <a:rPr lang="en-US" dirty="0"/>
              <a:t>1.5B, 24.5M trainable (Qwen) – 5hr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CA57C-37F3-1E9F-A425-C03A634D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60067-0F04-0769-6AF5-0B872F166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5" y="1325708"/>
            <a:ext cx="5817220" cy="32494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A51A70-F303-013E-26A2-FACBCA052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925" y="3130788"/>
            <a:ext cx="2001775" cy="2110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AB64E6-F18D-EE29-990F-1915508ED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04" y="3191342"/>
            <a:ext cx="1970908" cy="1989738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4B2CCA-8933-A251-0402-C06581574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96025"/>
              </p:ext>
            </p:extLst>
          </p:nvPr>
        </p:nvGraphicFramePr>
        <p:xfrm>
          <a:off x="6655420" y="1290294"/>
          <a:ext cx="458260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97">
                  <a:extLst>
                    <a:ext uri="{9D8B030D-6E8A-4147-A177-3AD203B41FA5}">
                      <a16:colId xmlns:a16="http://schemas.microsoft.com/office/drawing/2014/main" val="1553733388"/>
                    </a:ext>
                  </a:extLst>
                </a:gridCol>
                <a:gridCol w="1256665">
                  <a:extLst>
                    <a:ext uri="{9D8B030D-6E8A-4147-A177-3AD203B41FA5}">
                      <a16:colId xmlns:a16="http://schemas.microsoft.com/office/drawing/2014/main" val="2205189290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2547854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Num. 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6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LLM with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65432"/>
                  </a:ext>
                </a:extLst>
              </a:tr>
              <a:tr h="159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LLM wo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55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QWEN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 (N/A?)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81332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186DEBB-E222-4706-432B-0888AC1F29C0}"/>
              </a:ext>
            </a:extLst>
          </p:cNvPr>
          <p:cNvSpPr/>
          <p:nvPr/>
        </p:nvSpPr>
        <p:spPr>
          <a:xfrm>
            <a:off x="3972910" y="3721646"/>
            <a:ext cx="1303283" cy="843999"/>
          </a:xfrm>
          <a:prstGeom prst="rect">
            <a:avLst/>
          </a:prstGeom>
          <a:solidFill>
            <a:srgbClr val="151D25"/>
          </a:solidFill>
          <a:ln>
            <a:solidFill>
              <a:srgbClr val="151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3820-BB12-BE4D-825A-4A5CAB3F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0A86-7A75-11C4-6FCB-8A006D34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/ PDE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01A98-0E53-BFA6-8120-49C188A5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148" y="5338342"/>
            <a:ext cx="6117848" cy="1325563"/>
          </a:xfrm>
        </p:spPr>
        <p:txBody>
          <a:bodyPr numCol="1">
            <a:normAutofit fontScale="85000" lnSpcReduction="10000"/>
          </a:bodyPr>
          <a:lstStyle/>
          <a:p>
            <a:r>
              <a:rPr lang="en-US" dirty="0"/>
              <a:t>Sampling doesn’t quite produce different structures, just different numbers. </a:t>
            </a:r>
          </a:p>
          <a:p>
            <a:r>
              <a:rPr lang="en-US" dirty="0"/>
              <a:t>Only the rule based LLM performed okay!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82CCF-B438-CF72-0981-B45A5712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DD7E85-80B1-FD1D-F7BB-2A1189751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07637"/>
              </p:ext>
            </p:extLst>
          </p:nvPr>
        </p:nvGraphicFramePr>
        <p:xfrm>
          <a:off x="7004058" y="365125"/>
          <a:ext cx="458260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97">
                  <a:extLst>
                    <a:ext uri="{9D8B030D-6E8A-4147-A177-3AD203B41FA5}">
                      <a16:colId xmlns:a16="http://schemas.microsoft.com/office/drawing/2014/main" val="1553733388"/>
                    </a:ext>
                  </a:extLst>
                </a:gridCol>
                <a:gridCol w="1256665">
                  <a:extLst>
                    <a:ext uri="{9D8B030D-6E8A-4147-A177-3AD203B41FA5}">
                      <a16:colId xmlns:a16="http://schemas.microsoft.com/office/drawing/2014/main" val="2205189290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2547854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Num. 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6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LLM with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65432"/>
                  </a:ext>
                </a:extLst>
              </a:tr>
              <a:tr h="159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LLM wo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55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QWEN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 (N/A?)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813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1D86D1-16F3-694A-3929-14ABDF28F4B9}"/>
              </a:ext>
            </a:extLst>
          </p:cNvPr>
          <p:cNvSpPr txBox="1"/>
          <p:nvPr/>
        </p:nvSpPr>
        <p:spPr>
          <a:xfrm>
            <a:off x="1029181" y="1690688"/>
            <a:ext cx="41587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"0.37 3 psi + sin q 0 y </a:t>
            </a:r>
            <a:r>
              <a:rPr lang="en-US" dirty="0" err="1"/>
              <a:t>jacobian</a:t>
            </a:r>
            <a:r>
              <a:rPr lang="en-US" dirty="0"/>
              <a:t> - + +\n",</a:t>
            </a:r>
          </a:p>
          <a:p>
            <a:r>
              <a:rPr lang="en-US" dirty="0"/>
              <a:t> "q </a:t>
            </a:r>
            <a:r>
              <a:rPr lang="en-US" dirty="0" err="1"/>
              <a:t>q</a:t>
            </a:r>
            <a:r>
              <a:rPr lang="en-US" dirty="0"/>
              <a:t> u cos + cos + </a:t>
            </a:r>
            <a:r>
              <a:rPr lang="en-US" dirty="0" err="1"/>
              <a:t>dy</a:t>
            </a:r>
            <a:r>
              <a:rPr lang="en-US" dirty="0"/>
              <a:t>\n",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5B581-A387-F7A1-F29D-7DC3A0C493A2}"/>
              </a:ext>
            </a:extLst>
          </p:cNvPr>
          <p:cNvSpPr txBox="1"/>
          <p:nvPr/>
        </p:nvSpPr>
        <p:spPr>
          <a:xfrm>
            <a:off x="1029181" y="1321356"/>
            <a:ext cx="180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6EB28-BD9E-AF3B-B63C-7CA764FC713A}"/>
              </a:ext>
            </a:extLst>
          </p:cNvPr>
          <p:cNvSpPr txBox="1"/>
          <p:nvPr/>
        </p:nvSpPr>
        <p:spPr>
          <a:xfrm>
            <a:off x="6427284" y="2344919"/>
            <a:ext cx="50433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dirty="0"/>
              <a:t> "0.314546 3.034548 psi + sin q y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jacobian</a:t>
            </a:r>
            <a:r>
              <a:rPr lang="es-ES" dirty="0"/>
              <a:t> - + +",        "q </a:t>
            </a:r>
            <a:r>
              <a:rPr lang="es-ES" dirty="0" err="1"/>
              <a:t>q</a:t>
            </a:r>
            <a:r>
              <a:rPr lang="es-ES" dirty="0"/>
              <a:t> u cos + cos + </a:t>
            </a:r>
            <a:r>
              <a:rPr lang="es-ES" dirty="0" err="1"/>
              <a:t>dy</a:t>
            </a:r>
            <a:r>
              <a:rPr lang="es-ES" dirty="0"/>
              <a:t>",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C1792-A2E6-4B70-8207-CE59D159E9DE}"/>
              </a:ext>
            </a:extLst>
          </p:cNvPr>
          <p:cNvSpPr txBox="1"/>
          <p:nvPr/>
        </p:nvSpPr>
        <p:spPr>
          <a:xfrm>
            <a:off x="6427285" y="1975587"/>
            <a:ext cx="180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B62FAB-C5EF-14AE-22DC-51E32463B0F2}"/>
              </a:ext>
            </a:extLst>
          </p:cNvPr>
          <p:cNvSpPr txBox="1"/>
          <p:nvPr/>
        </p:nvSpPr>
        <p:spPr>
          <a:xfrm>
            <a:off x="6427284" y="3360582"/>
            <a:ext cx="50433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dirty="0"/>
              <a:t>"0.275928 2.961881 psi + sin q 0.091960 y v - + +",        "q </a:t>
            </a:r>
            <a:r>
              <a:rPr lang="es-ES" dirty="0" err="1"/>
              <a:t>q</a:t>
            </a:r>
            <a:r>
              <a:rPr lang="es-ES" dirty="0"/>
              <a:t> u cos + cos + </a:t>
            </a:r>
            <a:r>
              <a:rPr lang="es-ES" dirty="0" err="1"/>
              <a:t>dy</a:t>
            </a:r>
            <a:r>
              <a:rPr lang="es-ES" dirty="0"/>
              <a:t>",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A99736-039E-ECD5-0BC5-DA38FDA8835A}"/>
              </a:ext>
            </a:extLst>
          </p:cNvPr>
          <p:cNvSpPr txBox="1"/>
          <p:nvPr/>
        </p:nvSpPr>
        <p:spPr>
          <a:xfrm>
            <a:off x="6427285" y="2991250"/>
            <a:ext cx="180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LLM - sampled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81DD0-CE04-E1B4-0920-C760B31429FE}"/>
              </a:ext>
            </a:extLst>
          </p:cNvPr>
          <p:cNvSpPr txBox="1"/>
          <p:nvPr/>
        </p:nvSpPr>
        <p:spPr>
          <a:xfrm>
            <a:off x="6427284" y="4368265"/>
            <a:ext cx="50433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dirty="0"/>
              <a:t>"0.301647 2.986362 psi + sin q y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jacobian</a:t>
            </a:r>
            <a:r>
              <a:rPr lang="es-ES" dirty="0"/>
              <a:t> - + +",        "q </a:t>
            </a:r>
            <a:r>
              <a:rPr lang="es-ES" dirty="0" err="1"/>
              <a:t>q</a:t>
            </a:r>
            <a:r>
              <a:rPr lang="es-ES" dirty="0"/>
              <a:t> u cos + cos + </a:t>
            </a:r>
            <a:r>
              <a:rPr lang="es-ES" dirty="0" err="1"/>
              <a:t>dy</a:t>
            </a:r>
            <a:r>
              <a:rPr lang="es-ES" dirty="0"/>
              <a:t>",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B5C2E4-BA9E-E15C-CCDD-649516A482C2}"/>
              </a:ext>
            </a:extLst>
          </p:cNvPr>
          <p:cNvSpPr txBox="1"/>
          <p:nvPr/>
        </p:nvSpPr>
        <p:spPr>
          <a:xfrm>
            <a:off x="6427284" y="4001710"/>
            <a:ext cx="180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LLM wo algebra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E0DAF1-6879-04F6-A438-633A822CC8B4}"/>
              </a:ext>
            </a:extLst>
          </p:cNvPr>
          <p:cNvSpPr txBox="1"/>
          <p:nvPr/>
        </p:nvSpPr>
        <p:spPr>
          <a:xfrm>
            <a:off x="721343" y="2960518"/>
            <a:ext cx="525145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" sin u 3.33 + v + u * + u - u *\n9 dy + dx\nlap\nv *\ndx\ny -\n5 sin *\ny -\n7 *\ny *\n+\n2 *\n-\n-\n-\n*\n-\n+\n10",       </a:t>
            </a:r>
          </a:p>
          <a:p>
            <a:r>
              <a:rPr lang="pt-BR" dirty="0"/>
              <a:t> " u y - * 7 jacobian y -\nsin\n psi +\n6,\n-\ndx\n dy\n 3 -\n psi *\n 0.76 *\n 9 * dx -\n sin\n 10 -\n *\n sin\n 8 *\n *\n", ..... \nCOM....btn...key...sci....read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DADB81-B1FF-7265-4ED4-E48D46487710}"/>
              </a:ext>
            </a:extLst>
          </p:cNvPr>
          <p:cNvSpPr txBox="1"/>
          <p:nvPr/>
        </p:nvSpPr>
        <p:spPr>
          <a:xfrm>
            <a:off x="721343" y="2591186"/>
            <a:ext cx="180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QWEN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C2D69A-F242-13C7-A75F-6368B0642EF6}"/>
              </a:ext>
            </a:extLst>
          </p:cNvPr>
          <p:cNvSpPr txBox="1"/>
          <p:nvPr/>
        </p:nvSpPr>
        <p:spPr>
          <a:xfrm>
            <a:off x="6395604" y="5378725"/>
            <a:ext cx="504337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dirty="0"/>
              <a:t>"cos 0.290347 v </a:t>
            </a:r>
            <a:r>
              <a:rPr lang="es-ES" dirty="0" err="1"/>
              <a:t>invlap</a:t>
            </a:r>
            <a:r>
              <a:rPr lang="es-ES" dirty="0"/>
              <a:t> </a:t>
            </a:r>
            <a:r>
              <a:rPr lang="es-ES" dirty="0" err="1"/>
              <a:t>jacobian</a:t>
            </a:r>
            <a:r>
              <a:rPr lang="es-ES" dirty="0"/>
              <a:t> </a:t>
            </a:r>
            <a:r>
              <a:rPr lang="es-ES" dirty="0" err="1"/>
              <a:t>jacobian</a:t>
            </a:r>
            <a:r>
              <a:rPr lang="es-ES" dirty="0"/>
              <a:t> </a:t>
            </a:r>
            <a:r>
              <a:rPr lang="es-ES" dirty="0" err="1"/>
              <a:t>dx</a:t>
            </a:r>
            <a:r>
              <a:rPr lang="es-ES" dirty="0"/>
              <a:t> psi cos 1.718765 2.049709 </a:t>
            </a:r>
            <a:r>
              <a:rPr lang="es-ES" dirty="0" err="1"/>
              <a:t>jacobian</a:t>
            </a:r>
            <a:r>
              <a:rPr lang="es-ES" dirty="0"/>
              <a:t> 2.843819 cos </a:t>
            </a:r>
            <a:r>
              <a:rPr lang="es-ES" dirty="0" err="1"/>
              <a:t>dx</a:t>
            </a:r>
            <a:r>
              <a:rPr lang="es-ES" dirty="0"/>
              <a:t> cos + </a:t>
            </a:r>
            <a:r>
              <a:rPr lang="es-ES" dirty="0" err="1"/>
              <a:t>jacobian</a:t>
            </a:r>
            <a:r>
              <a:rPr lang="es-ES" dirty="0"/>
              <a:t> cos x </a:t>
            </a:r>
            <a:r>
              <a:rPr lang="es-ES" dirty="0" err="1"/>
              <a:t>jacobian</a:t>
            </a:r>
            <a:r>
              <a:rPr lang="es-ES" dirty="0"/>
              <a:t> sin cos ……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04925A-C91F-55D2-00BA-5B575E5F452B}"/>
              </a:ext>
            </a:extLst>
          </p:cNvPr>
          <p:cNvSpPr txBox="1"/>
          <p:nvPr/>
        </p:nvSpPr>
        <p:spPr>
          <a:xfrm>
            <a:off x="6395603" y="5012170"/>
            <a:ext cx="3108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LLM wo algebra - sampled</a:t>
            </a:r>
          </a:p>
        </p:txBody>
      </p:sp>
    </p:spTree>
    <p:extLst>
      <p:ext uri="{BB962C8B-B14F-4D97-AF65-F5344CB8AC3E}">
        <p14:creationId xmlns:p14="http://schemas.microsoft.com/office/powerpoint/2010/main" val="810438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4938-5E66-A184-A307-D1F8CDBD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F4E3-969C-68A4-54A4-7479A551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1B15-E6C6-DE80-F5D4-5B3C28FF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775B-CFD3-4061-9717-6DBEF917ED9E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89EB39-FD44-B8C7-B2CA-B136C0241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08001"/>
              </p:ext>
            </p:extLst>
          </p:nvPr>
        </p:nvGraphicFramePr>
        <p:xfrm>
          <a:off x="6324980" y="1027906"/>
          <a:ext cx="564439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568">
                  <a:extLst>
                    <a:ext uri="{9D8B030D-6E8A-4147-A177-3AD203B41FA5}">
                      <a16:colId xmlns:a16="http://schemas.microsoft.com/office/drawing/2014/main" val="1553733388"/>
                    </a:ext>
                  </a:extLst>
                </a:gridCol>
                <a:gridCol w="1027430">
                  <a:extLst>
                    <a:ext uri="{9D8B030D-6E8A-4147-A177-3AD203B41FA5}">
                      <a16:colId xmlns:a16="http://schemas.microsoft.com/office/drawing/2014/main" val="2205189290"/>
                    </a:ext>
                  </a:extLst>
                </a:gridCol>
                <a:gridCol w="2235396">
                  <a:extLst>
                    <a:ext uri="{9D8B030D-6E8A-4147-A177-3AD203B41FA5}">
                      <a16:colId xmlns:a16="http://schemas.microsoft.com/office/drawing/2014/main" val="2547854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(240 epochs)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RelMSE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PMSE (Err / Signal)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6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0.02102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6.77%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65432"/>
                  </a:ext>
                </a:extLst>
              </a:tr>
              <a:tr h="159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VLM wo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10.69%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55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VM (no LLM,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8133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A23E8A-A1D5-0877-EAE9-95320F5C4799}"/>
              </a:ext>
            </a:extLst>
          </p:cNvPr>
          <p:cNvSpPr txBox="1">
            <a:spLocks/>
          </p:cNvSpPr>
          <p:nvPr/>
        </p:nvSpPr>
        <p:spPr>
          <a:xfrm>
            <a:off x="185199" y="1547979"/>
            <a:ext cx="6217886" cy="1013003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About 4 frames (800x true solver), given the current frame</a:t>
            </a:r>
          </a:p>
          <a:p>
            <a:r>
              <a:rPr lang="en-US" dirty="0"/>
              <a:t>VLM improves with PDE input, but not by much!</a:t>
            </a:r>
          </a:p>
          <a:p>
            <a:r>
              <a:rPr lang="en-US" dirty="0"/>
              <a:t>Predict for known PDEs, out of distribution not good yet</a:t>
            </a:r>
          </a:p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B0D5443-BB7D-95EC-2ABD-D20117B3D889}"/>
              </a:ext>
            </a:extLst>
          </p:cNvPr>
          <p:cNvGrpSpPr/>
          <p:nvPr/>
        </p:nvGrpSpPr>
        <p:grpSpPr>
          <a:xfrm>
            <a:off x="288146" y="2614970"/>
            <a:ext cx="11717044" cy="4106505"/>
            <a:chOff x="34780" y="2168229"/>
            <a:chExt cx="11717044" cy="41065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C40392A-6F54-1CF9-4339-54BE92012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4690" y="2494042"/>
              <a:ext cx="3034580" cy="378069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B0AEA3-E9F5-2EC0-10C3-44DE15579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0967" y="2494042"/>
              <a:ext cx="3034580" cy="378069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7783684-D785-A066-3762-7BB8D7917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7244" y="2494042"/>
              <a:ext cx="3034580" cy="378069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60EFD0-49B9-3D79-7A10-11CFBDBCCFCC}"/>
                </a:ext>
              </a:extLst>
            </p:cNvPr>
            <p:cNvSpPr txBox="1"/>
            <p:nvPr/>
          </p:nvSpPr>
          <p:spPr>
            <a:xfrm>
              <a:off x="3556313" y="2168229"/>
              <a:ext cx="651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VLM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EB240E-4412-CF9E-0D8F-F9650556D319}"/>
                </a:ext>
              </a:extLst>
            </p:cNvPr>
            <p:cNvSpPr txBox="1"/>
            <p:nvPr/>
          </p:nvSpPr>
          <p:spPr>
            <a:xfrm>
              <a:off x="6149719" y="2168229"/>
              <a:ext cx="181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VLM wo algebra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40344E-D752-148A-6EEA-F3F2EC054A23}"/>
                </a:ext>
              </a:extLst>
            </p:cNvPr>
            <p:cNvSpPr txBox="1"/>
            <p:nvPr/>
          </p:nvSpPr>
          <p:spPr>
            <a:xfrm>
              <a:off x="9325996" y="2168229"/>
              <a:ext cx="181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VM baseline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9F0FABB-77F2-559F-3D3A-E7432CE414C4}"/>
                </a:ext>
              </a:extLst>
            </p:cNvPr>
            <p:cNvGrpSpPr/>
            <p:nvPr/>
          </p:nvGrpSpPr>
          <p:grpSpPr>
            <a:xfrm>
              <a:off x="34780" y="2739010"/>
              <a:ext cx="2267803" cy="3285218"/>
              <a:chOff x="34780" y="2739010"/>
              <a:chExt cx="2267803" cy="328521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992037-B360-1AC6-384C-8D688E564C19}"/>
                  </a:ext>
                </a:extLst>
              </p:cNvPr>
              <p:cNvSpPr txBox="1"/>
              <p:nvPr/>
            </p:nvSpPr>
            <p:spPr>
              <a:xfrm>
                <a:off x="43521" y="2739010"/>
                <a:ext cx="225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Context frame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8AB2AC-E273-2678-E2F4-E4383139E92B}"/>
                  </a:ext>
                </a:extLst>
              </p:cNvPr>
              <p:cNvSpPr txBox="1"/>
              <p:nvPr/>
            </p:nvSpPr>
            <p:spPr>
              <a:xfrm>
                <a:off x="43521" y="3472135"/>
                <a:ext cx="225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Target frame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77F047-AA14-0EC3-5616-8BDCBB3E0DB0}"/>
                  </a:ext>
                </a:extLst>
              </p:cNvPr>
              <p:cNvSpPr txBox="1"/>
              <p:nvPr/>
            </p:nvSpPr>
            <p:spPr>
              <a:xfrm>
                <a:off x="43521" y="4199722"/>
                <a:ext cx="225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Model prediction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2D5833-75E8-6959-6E1A-B1429E7A36CF}"/>
                  </a:ext>
                </a:extLst>
              </p:cNvPr>
              <p:cNvSpPr txBox="1"/>
              <p:nvPr/>
            </p:nvSpPr>
            <p:spPr>
              <a:xfrm>
                <a:off x="34780" y="4927309"/>
                <a:ext cx="225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Prediction Error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3D1C132-A99F-43FD-5D39-9D428F065855}"/>
                  </a:ext>
                </a:extLst>
              </p:cNvPr>
              <p:cNvSpPr txBox="1"/>
              <p:nvPr/>
            </p:nvSpPr>
            <p:spPr>
              <a:xfrm>
                <a:off x="43521" y="5654896"/>
                <a:ext cx="225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Prediction Signal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727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540</Words>
  <Application>Microsoft Office PowerPoint</Application>
  <PresentationFormat>Widescreen</PresentationFormat>
  <Paragraphs>95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Avenir Next LT Pro</vt:lpstr>
      <vt:lpstr>Avenir Next LT Pro Light</vt:lpstr>
      <vt:lpstr>Comfortaa Medium</vt:lpstr>
      <vt:lpstr>Office Theme</vt:lpstr>
      <vt:lpstr>1_Office Theme</vt:lpstr>
      <vt:lpstr>Group 3 : PDE-conditioned  flow-matching surrogates</vt:lpstr>
      <vt:lpstr>Many tasks require PDEs and video / fluid flow</vt:lpstr>
      <vt:lpstr>Design</vt:lpstr>
      <vt:lpstr>LLM / PDE Encoder</vt:lpstr>
      <vt:lpstr>LLM / PDE Encoder</vt:lpstr>
      <vt:lpstr>VLM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Sadam</dc:creator>
  <cp:lastModifiedBy>Akhil Sadam</cp:lastModifiedBy>
  <cp:revision>13</cp:revision>
  <dcterms:created xsi:type="dcterms:W3CDTF">2026-05-12T09:48:00Z</dcterms:created>
  <dcterms:modified xsi:type="dcterms:W3CDTF">2026-05-12T15:37:33Z</dcterms:modified>
</cp:coreProperties>
</file>